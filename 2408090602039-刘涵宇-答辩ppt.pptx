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数媒2402班的刘涵宇。今天我将向大家汇报我的《软件工程》期末大作业——一个面向AI绘画创作者的作品分享画廊与技巧交流平台。这个项目旨在解决当前AI绘画社区中作品分享和技术交流的痛点，为创作者提供一个专业、便捷的展示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首先，让我们看一下项目的概述。随着Stable Diffusion等工具的普及，AI绘画创作者数量激增，但现有的社交平台往往无法很好地支持AI作品特有的元数据展示。因此，本项目的目标就是开发一个专门的平台，支持图片上传、自动提取并展示AI生成参数，并以画廊形式呈现作品，实现一个完整的前后端交互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在技术选型上，我选择了前端原生的HTML、CSS和JavaScript，后端则采用轻量级的Python Flask框架，以实现快速开发。图片解析部分使用了Pillow库来读取PNG图片中的元数据。整个项目在Windows 11系统的VS Code中开发，并在华硕笔记本上进行测试。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启动前，我进行了全面的可行性分析。技术上，Flask和Pillow的组合是成熟可靠的。经济上，作为个人项目，成本为零。法律上，通过用户协议可以规避主要风险。因此，我得出结论：本项目完全可行。相关的可行性分析报告也已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需求分析阶段。我定义了五个核心功能模块，包括作品上传、元数据提取、画廊展示、作品详情和点赞功能。其中前四个高优先级功能均已实现，点赞功能作为中等优先级需求，目前完成了前端模拟。详细的需求规格说明书也已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概要设计阶段，我设计了简洁的系统架构，由浏览器、Flask后端和本地文件系统三部分组成。同时，定义了四个核心API接口，分别用于返回首页、获取图片列表、上传文件和获取图片。这些设计都记录在已完成的软件设计说明书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详细设计阶段，我重点设计了三个核心流程。上传流程负责接收和处理用户上传的图片；元数据提取流程则深入解析PNG文件，提取关键的AI生成参数；画廊展示流程负责从文件系统读取数据并提供给前端渲染。这三个流程构成了系统的核心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编码实现阶段，我编写了约350行代码。后端使用Flask实现了图片上传、元数据提取和API接口，共约150行。前端则通过HTML、CSS和JS实现了画廊主页、上传表单、详情页和点赞功能，约200行代码。所有代码都集成在一个app.py文件中，实现了快速部署和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完成编码后，我进行了严格的测试。测试在我的华硕笔记本上进行，采用手动黑盒测试方法。共设计了35个测试用例，涵盖了作品上传、画廊展示、元数据提取和前端交互等各个方面。总体通过率达到了94.3%，证明了系统的稳定性和功能完整性。测试报告已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发过程中，我也遇到了一些问题。例如，Edge浏览器自动将HTTP转为HTTPS导致访问失败，VPN占用端口等。通过关闭相关功能和软件，这些问题都得到了完全解决。对于元数据提取失败的问题，我通过调整解析逻辑，也基本解决了兼容性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项目的整体完成情况。核心功能如作品上传、画廊展示和详情查看都已成功实现。元数据提取和点赞功能部分完成，前者仅支持特定格式，后者仅做了前端模拟。用户系统和评论收藏等功能由于超出了本次项目的范围，因此未予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项目也存在一些不足。比如缺少用户系统，点赞状态无法保存，元数据解析的兼容性有限等。未来的改进方向包括引入用户认证和数据库，扩展元数据支持，并最终将项目部署到云服务器上，使其成为一个真正可用的在线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通过这次项目，我收获颇丰。在软件工程实践方面，我体验了完整的开发流程；在技术学习上，我掌握了Flask框架并深入了解了PNG元数据；在个人成长方面，我的编码能力和解决问题的能力都得到了很大的锻炼。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项目开发过程中，我也合理地使用了AI工具作为辅助。从可行性分析到编码调试，AI在提供参考方案、整理思路方面给予了很大帮助。但需要声明的是，所有核心内容，包括代码逻辑和设计思路，均由我本人独立完成，AI仅作为辅助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最后，我要衷心感谢钟云飞老师在整个课程和项目过程中的悉心指导，也要感谢《软件工程》这门课程让我学到了宝贵的知识。我的汇报到此结束，谢谢大家的聆听，欢迎各位老师提问。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8.jpe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9.jpe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667000"/>
            <a:ext cx="1117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面向AI绘画创作者的作品分享画廊与技巧交流平台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4191000"/>
            <a:ext cx="2540000" cy="254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4572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《软件工程》期末大作业答辩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6" flipH="false" flipV="false">
            <a:off x="508004" y="5708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59055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学期：2025-2026-2   |   专业班级：数媒2402      学生姓名：刘涵宇   |   指导教师：钟云飞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AI绘画工具爆发普及：</a:t>
            </a: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Stable Diffusion、Midjourney等工具降低了创作门槛，创作者数量呈指数级激增。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现有平台功能局限：</a:t>
            </a: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主流社交平台缺乏对Prompt、模型参数等核心元数据的支持，阻碍了创作技巧的沉淀与交流。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286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435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355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核心功能支持：</a:t>
            </a: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提供便捷的AI绘画作品上传入口，支持主流图片格式，降低用户分享门槛。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知识价值挖掘：</a:t>
            </a: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自动解析并展示生成参数，打造集作品展示与技术交流于一体的画廊式社区平台。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286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63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实现范围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946" flipH="false" flipV="false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55000" y="3175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覆盖作品上传（PNG/JPG/WebP）、SD WebUI格式元数据自动提取、响应式画廊展示及完整的前后端联调流程，形成闭环的作品分享与参数解析系统。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9436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核心价值：填补AI绘画社区的参数分享空白，连接创作者与技术细节，促进AI艺术的良性生态发展。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技术选型与开发环境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核心技术栈选型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167" flipH="false" flipV="false">
            <a:off x="10160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76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前端开发：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采用原生HTML+CSS+JavaScript组合，摒弃复杂框架，实现代码的轻量集成与功能的快速迭代，降低项目耦合度。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4762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后端服务：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 Flask 2.x轻量级框架构建，拥有简洁的路由系统与扩展机制，非常适合本项目的小型服务场景开发。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1910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图像解析：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选用PIL(Pillow)图像处理库，高效读取PNG元数据并进行像素级分析，满足项目核心的图像解析需求。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1778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67500" y="19685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项目开发与运行环境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167" flipH="false" flipV="false">
            <a:off x="66675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67500" y="2667000"/>
            <a:ext cx="228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操作系统使用Windows 11专业版，开发工具选用VS Code，搭配丰富的插件生态提升编码效率。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67260" flipH="false" flipV="false">
            <a:off x="8413750" y="3390930"/>
            <a:ext cx="133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207500" y="2667000"/>
            <a:ext cx="2349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测试设备为华硕天选4070笔记本，确保性能充足；浏览器选用Microsoft Edge进行多维度兼容性验证。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67500" y="4318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环境优势：软硬件配置均衡，开发与测试环境高度一致，有效减少环境适配问题。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092" flipH="false" flipV="false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10406" r="10406" t="0" b="0"/>
          <a:stretch>
            <a:fillRect/>
          </a:stretch>
        </p:blipFill>
        <p:spPr>
          <a:xfrm rot="0" flipH="false" flipV="false">
            <a:off x="762000" y="5461000"/>
            <a:ext cx="1079500" cy="1079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2032000" y="5524500"/>
            <a:ext cx="196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Flask 框架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微框架，灵活且易于扩展，是后端服务的核心支撑。</a:t>
            </a:r>
          </a:p>
        </p:txBody>
      </p:sp>
      <p:cxnSp>
        <p:nvCxnSpPr>
          <p:cNvPr name="Connector 20" id="20"/>
          <p:cNvCxnSpPr/>
          <p:nvPr/>
        </p:nvCxnSpPr>
        <p:spPr>
          <a:xfrm rot="5350892" flipH="false" flipV="false">
            <a:off x="3746500" y="5962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381500" y="5461000"/>
            <a:ext cx="1079500" cy="1079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5651500" y="5524500"/>
            <a:ext cx="196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&amp; Pillow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简洁的语法结合强大的图像处理库，实现高效开发。</a:t>
            </a:r>
          </a:p>
        </p:txBody>
      </p:sp>
      <p:cxnSp>
        <p:nvCxnSpPr>
          <p:cNvPr name="Connector 23" id="23"/>
          <p:cNvCxnSpPr/>
          <p:nvPr/>
        </p:nvCxnSpPr>
        <p:spPr>
          <a:xfrm rot="5350892" flipH="false" flipV="false">
            <a:off x="7302500" y="5962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l="899" r="899" t="0" b="0"/>
          <a:stretch>
            <a:fillRect/>
          </a:stretch>
        </p:blipFill>
        <p:spPr>
          <a:xfrm rot="0" flipH="false" flipV="false">
            <a:off x="7937500" y="5461000"/>
            <a:ext cx="1079500" cy="1079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9207500" y="5524500"/>
            <a:ext cx="2349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VS Code 开发工具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轻量、开源、插件丰富，提供极佳的代码编辑体验。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03 可行性分析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184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技术可行性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566" flipH="false" flipV="false">
            <a:off x="9525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通过技术调研，确认采用 Flask 框架结合 PIL 图像处理库，能够高效、稳定地解析 PNG 图片中的元数据信息，相关技术路径成熟，开发难度可控。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032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84700" y="2222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29200" y="2184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经济可行性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566" flipH="false" flipV="false">
            <a:off x="45847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847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作为个人课程实践项目，开发过程中使用的所有框架、库及工具均为开源或免费软件，无需投入额外的硬件采购、软件授权等经济成本，具备极佳的经济可行性。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032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16900" y="2222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61400" y="2184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法律可行性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566" flipH="false" flipV="false">
            <a:off x="82169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16900" y="3048000"/>
            <a:ext cx="299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在用户协议中明确AI生成内容的版权归属及使用条款，规范用户上传与使用行为，同时规避潜在的知识产权纠纷，确保项目在法律框架内合规运行。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855F7">
              <a:alpha val="18000"/>
            </a:srgbClr>
          </a:solidFill>
          <a:ln w="12700" cmpd="sng" cap="flat">
            <a:solidFill>
              <a:srgbClr val="A855F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905000" y="4953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结论：项目完全可行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综合技术、经济与法律维度的全面研判，项目的实施基础扎实，风险可控，具备充分的落地条件与实践价值。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5080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366000" y="4953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主要成果：报告已完成归档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已完成《项目可行性分析报告》的撰写与论证，为后续系统设计、开发流程及风险管控提供了详实的理论支撑与决策依据。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04 需求分析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95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作品上传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566" flipH="false" flipV="false">
            <a:off x="952513" y="2660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27940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支持PNG、JPG、WebP等主流图片格式上传，实现文件校验与预处理，保障数据规范性。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84700" y="2095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927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元数据提取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566" flipH="false" flipV="false">
            <a:off x="4584713" y="2660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84700" y="27940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自动解析SD WebUI生成的图片信息，提取Prompt、采样器、分辨率等关键参数，结构化存储。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16900" y="2095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249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画廊展示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566" flipH="false" flipV="false">
            <a:off x="8216913" y="2660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16900" y="27940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采用响应式瀑布流布局展示作品列表，支持按热度、时间等维度排序，提升浏览体验。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064000"/>
            <a:ext cx="52578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460500" y="421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作品详情：大图预览 + 元数据卡片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952" flipH="false" flipV="false">
            <a:off x="952508" y="4819650"/>
            <a:ext cx="487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952500" y="4953000"/>
            <a:ext cx="48768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点击作品查看高清大图，同时展示提取后的完整元数据信息，支持参数复制功能，方便用户复用与学习。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73800" y="4064000"/>
            <a:ext cx="51308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64300" y="42545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72300" y="421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点赞功能：交互反馈与模拟实现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316" flipH="false" flipV="false">
            <a:off x="6464309" y="4819650"/>
            <a:ext cx="4686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464300" y="4953000"/>
            <a:ext cx="46228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实现前端点赞状态切换与数字更新的视觉效果，作为中等优先级功能，当前已完成前端交互模拟，待后续接入后端逻辑。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969000"/>
            <a:ext cx="10642600" cy="635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52500" y="61341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397000" y="60706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已完成系统《需求规格说明书》的撰写，明确了核心功能模块的优先级与实现状态，为后续开发提供了规范依据。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05 概要设计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45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98600" y="2133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系统架构流程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149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8D6FF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交互层：浏览器客户端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提供用户访问入口，处理页面渲染与交互请求。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064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1656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8D6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服务与存储层：Flask + 本地文件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后端处理业务逻辑，将上传资源持久化至uploads目录。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181600" y="2133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API 接口定义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4699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99000" y="3048000"/>
            <a:ext cx="2921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26000" y="3111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GET / &amp; /api/images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返回画廊首页HTML文档，及图片资源列表的JSON数据。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0" y="3937000"/>
            <a:ext cx="2921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26000" y="4000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POST /upload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接收前端上传的图片文件，校验并保存至本地存储目录。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99000" y="4826000"/>
            <a:ext cx="2921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26000" y="48895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GET /images/&lt;filename&gt;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根据文件名获取对应图片资源，支持图片预览与展示。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01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1590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737600" y="2133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阶段交付成果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4946" flipH="false" flipV="false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8255000" y="3048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3175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E8D6FF"/>
                </a:solidFill>
                <a:latin typeface="Noto Sans SC"/>
                <a:ea typeface="Noto Sans SC"/>
                <a:cs typeface="Noto Sans SC"/>
                <a:sym typeface="Noto Sans SC"/>
              </a:rPr>
              <a:t>《软件设计说明书》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已完成编写与评审。文档详细阐述了系统的架构设计、接口规范、数据存储方案及核心业务流程，为后续开发与维护提供了完整依据。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55000" y="4699000"/>
            <a:ext cx="2921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382000" y="4800600"/>
            <a:ext cx="266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状态：已归档入库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遵循软件工程规范，确保设计可追溯、可复用。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16000" y="59436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本阶段确立了高内聚低耦合的系统结构，规范了接口通信协议，为系统功能的完整实现奠定了坚实的理论与文档基础。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06 详细设计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2606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上传流程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CECE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用户选择图片后填写相关信息，系统将文件保存至uploads目录，同时触发元数据提取操作，处理完成后返回上传成功的结构化响应。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94300" y="22606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元数据提取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3302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CECE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深度解析PNG文件的tEXt chunk数据块，从中提取SD生成参数（如模型、提示词、采样器等），清洗并格式化后，返回标准的结构化JSON数据。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28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39200" y="22606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画廊展示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3302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CECE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服务端扫描uploads目录，按时间倒序读取文件及对应元数据，封装为JSON接口返回，前端接收后以瀑布流布局渲染，实现图片与参数的联动展示。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60452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核心逻辑总结：通过标准化的文件处理与数据解析，实现从内容上传到前端展示的全链路自动化闭环。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07 编码实现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715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后端核心逻辑 (Flask / ~150行)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384" flipH="false" flipV="false">
            <a:off x="1016008" y="2406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1714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接收前端文件流，验证格式后安全保存至服务器uploads目录，确保数据持久化。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54166" flipH="false" flipV="false">
            <a:off x="2317750" y="3073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857500" y="2540000"/>
            <a:ext cx="165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利用PIL库读取PNG的tEXt chunk，精准解析SD生成参数，结构化存储关键信息。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54166" flipH="false" flipV="false">
            <a:off x="4095750" y="3073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35500" y="2540000"/>
            <a:ext cx="165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API接口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扫描作品目录，按时间倒序聚合数据，提供JSON格式的图片列表API供前端渲染。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00500"/>
            <a:ext cx="5715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00500"/>
            <a:ext cx="76200" cy="1968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1275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前端交互界面 (HTML+CSS+JS / ~200行)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384" flipH="false" flipV="false">
            <a:off x="1016008" y="4629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762500"/>
            <a:ext cx="247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画廊与上传：</a:t>
            </a: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实现响应式瀑布流布局展示所有作品；集成表单上传与实时预览功能，优化用户上传体验，减少操作门槛。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54166" flipH="false" flipV="false">
            <a:off x="3143250" y="5295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746500" y="4762500"/>
            <a:ext cx="247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详情与互动：</a:t>
            </a: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大图展示作品细节，悬浮卡片呈现完整元数据；添加点赞状态切换与即时UI反馈，增强用户参与感。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89889" flipH="false" flipV="false">
            <a:off x="4699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rcRect l="0" r="0" t="3676" b="3676"/>
          <a:stretch>
            <a:fillRect/>
          </a:stretch>
        </p:blipFill>
        <p:spPr>
          <a:xfrm rot="0" flipH="false" flipV="false">
            <a:off x="7112000" y="1778000"/>
            <a:ext cx="4318000" cy="2667000"/>
          </a:xfrm>
          <a:prstGeom prst="rect">
            <a:avLst/>
          </a:prstGeom>
          <a:noFill/>
          <a:ln w="25400" cmpd="sng" cap="flat">
            <a:solidFill>
              <a:srgbClr val="A855F7">
                <a:alpha val="60000"/>
              </a:srgbClr>
            </a:solidFill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4762500"/>
            <a:ext cx="2095500" cy="1460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0" y="48895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350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3708" flipH="false" flipV="false">
            <a:off x="7239022" y="5581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7239000" y="57150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项目总计核心代码量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334500" y="4762500"/>
            <a:ext cx="2095500" cy="1460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461500" y="48895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app.py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3708" flipH="false" flipV="false">
            <a:off x="9461522" y="5581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9461500" y="57150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前后端一体化部署入口文件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08 测试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810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33600"/>
            <a:ext cx="279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测试环境配置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3222" flipH="false" flipV="false">
            <a:off x="1016012" y="2787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330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测试设备采用华硕天选4070笔记本电脑，运行Windows 11操作系统，使用Microsoft Edge浏览器访问本地服务。采用手动黑盒测试方法，全面覆盖核心业务流程，确保功能逻辑符合预期。</a:t>
            </a:r>
            <a:endParaRPr lang="en-US" sz="1100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080000" y="1905000"/>
          <a:ext cx="5334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016000"/>
                <a:gridCol w="1016000"/>
                <a:gridCol w="1524000"/>
              </a:tblGrid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>
                        <a:alpha val="3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作品上传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87.5%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画廊展示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元数据提取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83.3%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前端交互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855F7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855F7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855F7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94.3%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855F7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0" id="10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778000" y="5524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主要成果交付：</a:t>
            </a:r>
            <a:r>
              <a:rPr lang="en-US" b="false" i="false" strike="noStrike" u="none" sz="15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已完成完整的测试计划文档与测试报告，系统整体通过率达94.3%，验证了核心功能的稳定性、完整性与用户交互的流畅性。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09 遇到的主要问题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84400"/>
            <a:ext cx="425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Edge自动将 HTTP 强制跳转 HTTPS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857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解决方案：关闭浏览器的自动切换HTTPS功能，禁用相关安全重定向策略。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实施效果：完全解决访问异常问题，恢复正常连接。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595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2222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2184400"/>
            <a:ext cx="425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VPN/代理软件导致服务端口无法访问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167" flipH="false" flipV="false">
            <a:off x="64135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13500" y="2857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解决方案：关闭后台运行的VPN及代理软件，确保本地网络环境无额外网络层干扰。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实施效果：网络环境恢复纯净，端口访问畅通无阻。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24000" y="4470400"/>
            <a:ext cx="425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PNG 图片元数据 tEXt chunk 提取失败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167" flipH="false" flipV="false">
            <a:off x="1016008" y="501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5143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解决方案：重构 PIL 库的解析逻辑，增加对不同编码格式 tEXt chunk 的容错与适配处理。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实施效果：基本解决兼容性问题，可正确解析绝大多数 PNG 元数据。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59500" y="431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1595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4508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4470400"/>
            <a:ext cx="4254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Flask 默认 5000 端口被其他进程占用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167" flipH="false" flipV="false">
            <a:off x="6413508" y="501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13500" y="5143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解决方案：修改项目配置文件，将 Flask 服务的默认监听端口从 5000 调整为 5001。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实施效果：端口冲突彻底消除，服务启动与运行恢复正常。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10 项目完成情况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209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作品图片上传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状态：已完成，系统支持主流PNG、JPG及WebP等高效图片格式的上传与解析。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000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987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AI元数据自动提取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952513" y="443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952500" y="4572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状态：部分完成，当前版本仅实现对SD WebUI格式图片的元数据识别与提取功能。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08500" y="2032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2222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143500" y="2209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画廊瀑布流展示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4699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6990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状态：已完成，采用响应式卡片网格布局，实现了自适应的画廊瀑布流展示效果。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085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699000" y="4000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43500" y="3987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作品详情查看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4699013" y="443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4699000" y="4572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状态：已完成，支持点击查看作品大图，并完整展示图片包含的各项详细元数据信息。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91500" y="2032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82000" y="2222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826500" y="2209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点赞功能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4323" flipH="false" flipV="false">
            <a:off x="838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3820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状态：部分完成，已实现前端的点赞状态切换与模拟效果，后端数据交互功能待完善。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915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40005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826500" y="3987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扩展功能模块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4323" flipH="false" flipV="false">
            <a:off x="8382013" y="443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382000" y="4572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状态：未完成，用户注册登录、评论与收藏功能因超出本次项目核心范围，暂未开发。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" y="5715000"/>
            <a:ext cx="10858500" cy="698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52500" y="5816600"/>
            <a:ext cx="1047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项目核心功能均已落地实现，元数据与点赞功能保留后续迭代空间；用户体系及社交互动功能作为下一阶段规划内容，不在本次交付范围内。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11 不足与改进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79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1841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当前存在的主要不足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540000"/>
            <a:ext cx="48895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用户系统缺失：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未实现用户注册与登录功能，无法进行内容的个性化展示与管理。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状态未持久化：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点赞等交互数据仅保存在前端内存，页面刷新后状态即丢失，数据无留存。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兼容性与验证不足：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元数据仅支持SD WebUI格式，且测试仅在单设备进行，缺乏多端、多工具的广泛验证。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部署范围受限：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项目仅本地运行，未部署至公网服务器，无法供外部用户访问与使用。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159500" y="1778000"/>
            <a:ext cx="5270500" cy="508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1879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94500" y="1841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未来的优化与改进方向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540000"/>
            <a:ext cx="48895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完善系统架构：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引入JWT实现用户认证，集成SQLite数据库，确保用户信息与交互数据的持久化存储。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扩展格式支持：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适配ComfyUI等主流AI绘画工具的元数据规范，提升系统对不同生成模型的兼容性。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强化测试验证：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在多浏览器、多终端设备上开展兼容性测试，修复适配问题，保障用户体验一致性。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r>
              <a:rPr lang="en-US" b="true" i="false" strike="noStrike" u="none" sz="16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实现公网部署：</a:t>
            </a:r>
            <a:r>
              <a:rPr lang="en-US" b="false" i="false" strike="noStrike" u="none" sz="1600">
                <a:solidFill>
                  <a:srgbClr val="EBEB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将项目部署至腾讯云或阿里云服务器，配置域名与安全策略，开放公网访问服务。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816600"/>
            <a:ext cx="1028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总结：通过逐步解决上述问题，项目将从功能单一的本地工具，演进为功能完善、兼容性强、可公开访问的成熟在线AI作品管理平台。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12 经验与收获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286000"/>
            <a:ext cx="2336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软件工程实践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完整体验了从可行性分析、需求分析、设计、编码到测试的软件开发生命周期，深刻理解了规范文档是项目成功的基石，掌握了文档驱动开发的核心要义。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81600" y="2286000"/>
            <a:ext cx="2336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核心技术沉淀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482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482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熟练运用Flask框架搭建后端服务，掌握前后端高效交互模式；深入剖析PNG图片元数据存储机制，重点攻克了tEXt chunk数据结构的解析与应用难点。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28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13800" y="2286000"/>
            <a:ext cx="23368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综合能力进阶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2804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804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独立完成约350行核心代码编写与调试；熟练使用Git进行版本管理，建立科学的代码追踪习惯；在项目实践中，显著提升了独立分析、排查并解决复杂技术问题的能力。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9436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总结：项目不仅是技术的试炼场，更是将理论转化为实践、培养工程素养与解决问题思维的宝贵契机。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13 AI工具使用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A855F7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320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可行性分析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工具：文心一言 | 场景：技术方案参考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约70%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925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195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需求分析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工具：文心一言 | 场景：需求整理与梳理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约65%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080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2070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设计阶段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工具：ChatGPT/文心一言 | 场景：设计思路参考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约60-65%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1905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20320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编码实现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工具：文心一言/ChatGPT | 场景：代码框架与调试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约30-55%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35500" y="34925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89500" y="36195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测试阶段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工具：文心一言 | 场景：测试用例编写参考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约60%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5500" y="5080000"/>
            <a:ext cx="3556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355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89500" y="5207000"/>
            <a:ext cx="311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06. 文档撰写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工具：文心一言 | 场景：格式规范与内容优化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人工修改比例：</a:t>
            </a:r>
            <a:r>
              <a:rPr lang="en-US" b="true" i="false" strike="noStrike" u="none" sz="13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约65%</a:t>
            </a:r>
          </a:p>
        </p:txBody>
      </p:sp>
      <p:cxnSp>
        <p:nvCxnSpPr>
          <p:cNvPr name="Connector 23" id="23"/>
          <p:cNvCxnSpPr/>
          <p:nvPr/>
        </p:nvCxnSpPr>
        <p:spPr>
          <a:xfrm rot="5390316" flipH="false" flipV="false">
            <a:off x="61912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rcRect l="3101" r="3101" t="0" b="0"/>
          <a:stretch>
            <a:fillRect/>
          </a:stretch>
        </p:blipFill>
        <p:spPr>
          <a:xfrm rot="0" flipH="false" flipV="false">
            <a:off x="8636000" y="2286000"/>
            <a:ext cx="304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8636000" y="4572000"/>
            <a:ext cx="3048000" cy="1841500"/>
          </a:xfrm>
          <a:prstGeom prst="roundRect">
            <a:avLst>
              <a:gd name="adj" fmla="val 0"/>
            </a:avLst>
          </a:prstGeom>
          <a:solidFill>
            <a:srgbClr val="A855F7">
              <a:alpha val="15000"/>
            </a:srgbClr>
          </a:solidFill>
          <a:ln w="12700" cmpd="sng" cap="flat">
            <a:solidFill>
              <a:srgbClr val="A855F7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763000" y="4699000"/>
            <a:ext cx="2794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独立创作声明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项目核心代码逻辑、系统架构设计及关键业务实现均由本人独立完成。AI工具仅作为辅助手段，用于提供参考方案与思路启发，未参与核心决策与实现。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致谢与Q&amp;A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3302000"/>
            <a:ext cx="1270000" cy="381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衷心感谢钟云飞老师在课程与项目全过程中的悉心指导，也感谢《软件工程》课程为我提供了宝贵的学习与实践机会，让我对专业知识有了更深刻的理解。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58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谢谢聆听，欢迎各位老师提问！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{"Label":"1","ContentProducer":"001191110102MACQD9K64010000","ProduceID":"7655273693397945323","ReservedCode1":"","ContentPropagator":"","PropagateID":"","ReservedCode2":""}</vt:lpwstr>
  </property>
</Properties>
</file>